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32"/>
  </p:notesMasterIdLst>
  <p:sldIdLst>
    <p:sldId id="257" r:id="rId2"/>
    <p:sldId id="258" r:id="rId3"/>
    <p:sldId id="259" r:id="rId4"/>
    <p:sldId id="284" r:id="rId5"/>
    <p:sldId id="285" r:id="rId6"/>
    <p:sldId id="286" r:id="rId7"/>
    <p:sldId id="264" r:id="rId8"/>
    <p:sldId id="287" r:id="rId9"/>
    <p:sldId id="266" r:id="rId10"/>
    <p:sldId id="265" r:id="rId11"/>
    <p:sldId id="288" r:id="rId12"/>
    <p:sldId id="267" r:id="rId13"/>
    <p:sldId id="289" r:id="rId14"/>
    <p:sldId id="275" r:id="rId15"/>
    <p:sldId id="276" r:id="rId16"/>
    <p:sldId id="290" r:id="rId17"/>
    <p:sldId id="283" r:id="rId18"/>
    <p:sldId id="268" r:id="rId19"/>
    <p:sldId id="269" r:id="rId20"/>
    <p:sldId id="270" r:id="rId21"/>
    <p:sldId id="271" r:id="rId22"/>
    <p:sldId id="273" r:id="rId23"/>
    <p:sldId id="274" r:id="rId24"/>
    <p:sldId id="291" r:id="rId25"/>
    <p:sldId id="277" r:id="rId26"/>
    <p:sldId id="278" r:id="rId27"/>
    <p:sldId id="279" r:id="rId28"/>
    <p:sldId id="280" r:id="rId29"/>
    <p:sldId id="281" r:id="rId30"/>
    <p:sldId id="282" r:id="rId3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94660"/>
  </p:normalViewPr>
  <p:slideViewPr>
    <p:cSldViewPr snapToGrid="0">
      <p:cViewPr varScale="1">
        <p:scale>
          <a:sx n="113" d="100"/>
          <a:sy n="113" d="100"/>
        </p:scale>
        <p:origin x="45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EEAC11A-640C-49E3-9DB7-5B04EBF419DB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BE5A6AD-4AE4-43B3-A29B-0F86D7C07DA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132440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Showing improvements after expert review:</a:t>
            </a:r>
          </a:p>
          <a:p>
            <a:r>
              <a:rPr lang="en-US" dirty="0"/>
              <a:t>Larger icons</a:t>
            </a:r>
          </a:p>
          <a:p>
            <a:r>
              <a:rPr lang="en-US" dirty="0"/>
              <a:t>Better spacing</a:t>
            </a:r>
          </a:p>
          <a:p>
            <a:r>
              <a:rPr lang="en-US" dirty="0"/>
              <a:t>Improved colour contrast</a:t>
            </a:r>
          </a:p>
          <a:p>
            <a:r>
              <a:rPr lang="en-US" dirty="0"/>
              <a:t>Clearer dashboard text</a:t>
            </a:r>
          </a:p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5CC0-92DE-4989-A03A-51BF9D057881}" type="slidenum">
              <a:rPr lang="en-GB" smtClean="0"/>
              <a:t>10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7199384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Went through various pages &amp; </a:t>
            </a:r>
            <a:r>
              <a:rPr lang="en-US" dirty="0" err="1"/>
              <a:t>figma</a:t>
            </a:r>
            <a:r>
              <a:rPr lang="en-US" dirty="0"/>
              <a:t> designs to determine which features we should take (search bar)</a:t>
            </a:r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5CC0-92DE-4989-A03A-51BF9D057881}" type="slidenum">
              <a:rPr lang="en-GB" smtClean="0"/>
              <a:t>14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20092027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100878-02D7-2539-F214-D2A0D42C5D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5D85147-5E9A-7B35-1602-0B509061D09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184025B-C6A7-8C46-C8D1-9499FA91EFB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Fine comparing the background as the background of the </a:t>
            </a:r>
            <a:r>
              <a:rPr lang="en-US" dirty="0" err="1"/>
              <a:t>centre</a:t>
            </a:r>
            <a:r>
              <a:rPr lang="en-US" dirty="0"/>
              <a:t>, but terrible when checked against white background.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2EA2831-ADDB-0397-EF71-5C5C08F68E4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5CC0-92DE-4989-A03A-51BF9D057881}" type="slidenum">
              <a:rPr lang="en-GB" smtClean="0"/>
              <a:t>15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40956387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Important for cognitive depth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5CC0-92DE-4989-A03A-51BF9D057881}" type="slidenum">
              <a:rPr lang="en-GB" smtClean="0"/>
              <a:t>21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518849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96A2EC-A32A-9FE3-8DD9-384AB9FA3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3F76D37-0A50-7271-1542-01C89E8F8D0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1C1D45BB-BD9C-777F-42EA-91A81F4AFCA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Benchmark achieved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CCFD3A-53B4-094B-944F-18623CF292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5CC0-92DE-4989-A03A-51BF9D057881}" type="slidenum">
              <a:rPr lang="en-GB" smtClean="0"/>
              <a:t>22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970932078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7C759C-9099-7FCF-60AF-0448965FA1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2BCABF7-4215-DC06-4E8B-5AC65B7A450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8DCF38C-A1F1-B61C-CD54-7035F98414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Strong indication of user usefulness &amp; adoption likelihood.</a:t>
            </a:r>
            <a:endParaRPr lang="en-GB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0A65941-C2DB-C8AD-F7B7-316B5229A8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0835CC0-92DE-4989-A03A-51BF9D057881}" type="slidenum">
              <a:rPr lang="en-GB" smtClean="0"/>
              <a:t>23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565438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373082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31941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39428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76161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156171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998729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500246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08539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90616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032329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36914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9373182-9CE3-406C-BE15-8B40B4727B1A}" type="datetimeFigureOut">
              <a:rPr lang="en-GB" smtClean="0"/>
              <a:t>13/11/2025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A9520091-A97D-41D4-B34B-D5AEA1AE4521}" type="slidenum">
              <a:rPr lang="en-GB" smtClean="0"/>
              <a:t>‹#›</a:t>
            </a:fld>
            <a:endParaRPr lang="en-GB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080184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8A2D6A-0063-0BB7-1F4D-CE080D35C15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17779" y="2362200"/>
            <a:ext cx="8637073" cy="981529"/>
          </a:xfrm>
        </p:spPr>
        <p:txBody>
          <a:bodyPr/>
          <a:lstStyle/>
          <a:p>
            <a:r>
              <a:rPr lang="en-US" dirty="0"/>
              <a:t>AI Studdy Buddy</a:t>
            </a:r>
            <a:endParaRPr lang="en-GB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30F064C-C251-47B8-E8EE-2D04C2D7349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4995333"/>
            <a:ext cx="2540000" cy="1185333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en-US" sz="1000" b="1" dirty="0"/>
              <a:t>Anika Mayesha – D24125187</a:t>
            </a:r>
            <a:endParaRPr lang="en-GB" sz="1000" b="1" dirty="0"/>
          </a:p>
          <a:p>
            <a:pPr algn="l"/>
            <a:r>
              <a:rPr lang="en-US" sz="1000" b="1" dirty="0"/>
              <a:t>Lorenzo Palleschi – D24126922</a:t>
            </a:r>
            <a:endParaRPr lang="en-GB" sz="1000" b="1" dirty="0"/>
          </a:p>
          <a:p>
            <a:pPr algn="l"/>
            <a:r>
              <a:rPr lang="en-US" sz="1000" b="1" dirty="0"/>
              <a:t>Rumaysa </a:t>
            </a:r>
            <a:r>
              <a:rPr lang="en-US" sz="1000" b="1" dirty="0" err="1"/>
              <a:t>Babulkhair</a:t>
            </a:r>
            <a:r>
              <a:rPr lang="en-US" sz="1000" b="1" dirty="0"/>
              <a:t> – D24125711</a:t>
            </a:r>
            <a:endParaRPr lang="en-GB" sz="1000" b="1" dirty="0"/>
          </a:p>
          <a:p>
            <a:pPr algn="l"/>
            <a:r>
              <a:rPr lang="en-US" sz="1000" b="1" dirty="0"/>
              <a:t>Yurii </a:t>
            </a:r>
            <a:r>
              <a:rPr lang="en-US" sz="1000" b="1" dirty="0" err="1"/>
              <a:t>Sykal</a:t>
            </a:r>
            <a:r>
              <a:rPr lang="en-US" sz="1000" b="1" dirty="0"/>
              <a:t> – C23512523</a:t>
            </a:r>
            <a:endParaRPr lang="en-GB" sz="1000" b="1" dirty="0"/>
          </a:p>
          <a:p>
            <a:pPr algn="l"/>
            <a:endParaRPr lang="en-GB" sz="1000" b="1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C82BE39-4B24-73F4-D11E-32CBBC53D3BC}"/>
              </a:ext>
            </a:extLst>
          </p:cNvPr>
          <p:cNvSpPr txBox="1">
            <a:spLocks/>
          </p:cNvSpPr>
          <p:nvPr/>
        </p:nvSpPr>
        <p:spPr>
          <a:xfrm>
            <a:off x="2417778" y="3514272"/>
            <a:ext cx="8637073" cy="981529"/>
          </a:xfrm>
          <a:prstGeom prst="rect">
            <a:avLst/>
          </a:prstGeom>
        </p:spPr>
        <p:txBody>
          <a:bodyPr vert="horz" lIns="91440" tIns="45720" rIns="91440" bIns="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6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User Evaluation</a:t>
            </a:r>
            <a:endParaRPr lang="en-GB" dirty="0"/>
          </a:p>
        </p:txBody>
      </p:sp>
    </p:spTree>
    <p:extLst>
      <p:ext uri="{BB962C8B-B14F-4D97-AF65-F5344CB8AC3E}">
        <p14:creationId xmlns:p14="http://schemas.microsoft.com/office/powerpoint/2010/main" val="39110875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7B7674-9277-4EE5-F8D0-AF23BE3493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Agenda</a:t>
            </a:r>
            <a:endParaRPr lang="en-GB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7BE2E4D-5A81-17E1-FF16-3E81F86FC65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451579" y="1939530"/>
            <a:ext cx="9603275" cy="4123811"/>
          </a:xfrm>
        </p:spPr>
        <p:txBody>
          <a:bodyPr>
            <a:normAutofit/>
          </a:bodyPr>
          <a:lstStyle/>
          <a:p>
            <a:r>
              <a:rPr lang="en-US" sz="2800" dirty="0"/>
              <a:t>UX Framework</a:t>
            </a:r>
          </a:p>
          <a:p>
            <a:r>
              <a:rPr lang="en-US" sz="2800" dirty="0"/>
              <a:t>Discover Phase</a:t>
            </a:r>
          </a:p>
          <a:p>
            <a:r>
              <a:rPr lang="en-US" sz="2800" dirty="0"/>
              <a:t>Explore Phase</a:t>
            </a:r>
          </a:p>
          <a:p>
            <a:r>
              <a:rPr lang="en-US" sz="2800" dirty="0"/>
              <a:t>Test Phase</a:t>
            </a:r>
          </a:p>
          <a:p>
            <a:r>
              <a:rPr lang="en-US" sz="2800" dirty="0"/>
              <a:t>Listen Phase</a:t>
            </a:r>
          </a:p>
          <a:p>
            <a:r>
              <a:rPr lang="en-US" sz="2800" dirty="0"/>
              <a:t>Summary &amp; Next Steps</a:t>
            </a:r>
          </a:p>
        </p:txBody>
      </p:sp>
    </p:spTree>
    <p:extLst>
      <p:ext uri="{BB962C8B-B14F-4D97-AF65-F5344CB8AC3E}">
        <p14:creationId xmlns:p14="http://schemas.microsoft.com/office/powerpoint/2010/main" val="39167516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76A54-24B2-1BCD-65B8-0A3EED603C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A95F27-5127-CA7F-C163-3B91BF8F6A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391655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The 4 Phases of UX</a:t>
            </a:r>
            <a:endParaRPr lang="en-GB" b="1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82F96F94-E7E2-787C-BFC8-29515D8C3A4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9" y="2234948"/>
            <a:ext cx="6634089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Discover: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Understand user needs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Explore: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Personas, wireframes, design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Test: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Evaluation, SUS, walkthrough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Listen: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Improvements, roadmap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20F401FE-B014-DE98-2291-AB38CC2AC20A}"/>
              </a:ext>
            </a:extLst>
          </p:cNvPr>
          <p:cNvGrpSpPr/>
          <p:nvPr/>
        </p:nvGrpSpPr>
        <p:grpSpPr>
          <a:xfrm>
            <a:off x="8860971" y="604240"/>
            <a:ext cx="1796143" cy="5649520"/>
            <a:chOff x="9176657" y="315686"/>
            <a:chExt cx="1796143" cy="5649520"/>
          </a:xfrm>
        </p:grpSpPr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B6C84F70-0F6A-5113-5956-8041DE586D66}"/>
                </a:ext>
              </a:extLst>
            </p:cNvPr>
            <p:cNvSpPr/>
            <p:nvPr/>
          </p:nvSpPr>
          <p:spPr>
            <a:xfrm>
              <a:off x="9176657" y="315686"/>
              <a:ext cx="1796143" cy="1075969"/>
            </a:xfrm>
            <a:prstGeom prst="rect">
              <a:avLst/>
            </a:prstGeom>
            <a:solidFill>
              <a:srgbClr val="CC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Discover</a:t>
              </a:r>
              <a:endParaRPr lang="en-IE" b="1" dirty="0">
                <a:solidFill>
                  <a:schemeClr val="tx1"/>
                </a:solidFill>
              </a:endParaRPr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DA4375FA-AC84-B12D-183C-9D1A64ECC895}"/>
                </a:ext>
              </a:extLst>
            </p:cNvPr>
            <p:cNvSpPr/>
            <p:nvPr/>
          </p:nvSpPr>
          <p:spPr>
            <a:xfrm>
              <a:off x="9176657" y="1840203"/>
              <a:ext cx="1796143" cy="1075969"/>
            </a:xfrm>
            <a:prstGeom prst="rect">
              <a:avLst/>
            </a:prstGeom>
            <a:solidFill>
              <a:srgbClr val="FFFF99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Explore</a:t>
              </a:r>
              <a:endParaRPr lang="en-IE" b="1" dirty="0">
                <a:solidFill>
                  <a:schemeClr val="tx1"/>
                </a:solidFill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D2624BCE-DDE5-72F3-2AC2-03F8DD5E25CA}"/>
                </a:ext>
              </a:extLst>
            </p:cNvPr>
            <p:cNvSpPr/>
            <p:nvPr/>
          </p:nvSpPr>
          <p:spPr>
            <a:xfrm>
              <a:off x="9176657" y="3364720"/>
              <a:ext cx="1796143" cy="1075969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Test</a:t>
              </a:r>
              <a:endParaRPr lang="en-IE" b="1" dirty="0">
                <a:solidFill>
                  <a:schemeClr val="tx1"/>
                </a:solidFill>
              </a:endParaRP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3FE4F884-FD4B-CA02-11C4-0EA65CB5B342}"/>
                </a:ext>
              </a:extLst>
            </p:cNvPr>
            <p:cNvSpPr/>
            <p:nvPr/>
          </p:nvSpPr>
          <p:spPr>
            <a:xfrm>
              <a:off x="9176657" y="4889237"/>
              <a:ext cx="1796143" cy="1075969"/>
            </a:xfrm>
            <a:prstGeom prst="rect">
              <a:avLst/>
            </a:prstGeom>
            <a:solidFill>
              <a:schemeClr val="accent3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GB" sz="2400" b="1" dirty="0">
                  <a:solidFill>
                    <a:schemeClr val="tx1"/>
                  </a:solidFill>
                </a:rPr>
                <a:t>Listen</a:t>
              </a:r>
              <a:endParaRPr lang="en-IE" b="1" dirty="0">
                <a:solidFill>
                  <a:schemeClr val="tx1"/>
                </a:solidFill>
              </a:endParaRPr>
            </a:p>
          </p:txBody>
        </p:sp>
        <p:sp>
          <p:nvSpPr>
            <p:cNvPr id="7" name="Arrow: Down 6">
              <a:extLst>
                <a:ext uri="{FF2B5EF4-FFF2-40B4-BE49-F238E27FC236}">
                  <a16:creationId xmlns:a16="http://schemas.microsoft.com/office/drawing/2014/main" id="{0C57E117-5AE2-03BC-5149-4A7662411CE7}"/>
                </a:ext>
              </a:extLst>
            </p:cNvPr>
            <p:cNvSpPr/>
            <p:nvPr/>
          </p:nvSpPr>
          <p:spPr>
            <a:xfrm>
              <a:off x="9971314" y="1391655"/>
              <a:ext cx="315686" cy="448548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8" name="Arrow: Down 7">
              <a:extLst>
                <a:ext uri="{FF2B5EF4-FFF2-40B4-BE49-F238E27FC236}">
                  <a16:creationId xmlns:a16="http://schemas.microsoft.com/office/drawing/2014/main" id="{D2876E6C-72A7-5586-3BF0-18CD5D700BB6}"/>
                </a:ext>
              </a:extLst>
            </p:cNvPr>
            <p:cNvSpPr/>
            <p:nvPr/>
          </p:nvSpPr>
          <p:spPr>
            <a:xfrm>
              <a:off x="9971314" y="2916172"/>
              <a:ext cx="315686" cy="448548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  <p:sp>
          <p:nvSpPr>
            <p:cNvPr id="9" name="Arrow: Down 8">
              <a:extLst>
                <a:ext uri="{FF2B5EF4-FFF2-40B4-BE49-F238E27FC236}">
                  <a16:creationId xmlns:a16="http://schemas.microsoft.com/office/drawing/2014/main" id="{896B77D0-0C6D-4E4A-A54C-6D11BF51DC83}"/>
                </a:ext>
              </a:extLst>
            </p:cNvPr>
            <p:cNvSpPr/>
            <p:nvPr/>
          </p:nvSpPr>
          <p:spPr>
            <a:xfrm>
              <a:off x="9971314" y="4464056"/>
              <a:ext cx="315686" cy="448548"/>
            </a:xfrm>
            <a:prstGeom prst="downArrow">
              <a:avLst/>
            </a:prstGeom>
            <a:solidFill>
              <a:schemeClr val="tx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E"/>
            </a:p>
          </p:txBody>
        </p:sp>
      </p:grpSp>
    </p:spTree>
    <p:extLst>
      <p:ext uri="{BB962C8B-B14F-4D97-AF65-F5344CB8AC3E}">
        <p14:creationId xmlns:p14="http://schemas.microsoft.com/office/powerpoint/2010/main" val="295281378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C8F608D-843A-3D8F-A65A-8F8D29272DD8}"/>
              </a:ext>
            </a:extLst>
          </p:cNvPr>
          <p:cNvSpPr/>
          <p:nvPr/>
        </p:nvSpPr>
        <p:spPr>
          <a:xfrm>
            <a:off x="2073728" y="1314491"/>
            <a:ext cx="8044543" cy="4229017"/>
          </a:xfrm>
          <a:prstGeom prst="rect">
            <a:avLst/>
          </a:prstGeom>
          <a:solidFill>
            <a:srgbClr val="CC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b="1" dirty="0">
                <a:solidFill>
                  <a:schemeClr val="tx1"/>
                </a:solidFill>
              </a:rPr>
              <a:t>1.</a:t>
            </a:r>
          </a:p>
          <a:p>
            <a:pPr algn="ctr"/>
            <a:r>
              <a:rPr lang="en-GB" sz="8000" b="1" dirty="0">
                <a:solidFill>
                  <a:schemeClr val="tx1"/>
                </a:solidFill>
              </a:rPr>
              <a:t>Discover</a:t>
            </a:r>
            <a:endParaRPr lang="en-IE" sz="6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4415906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454279-3B0C-0765-E178-1E6847C71B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0DBAAE-4217-5948-A24A-5398103C85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1 - Discover</a:t>
            </a:r>
            <a:endParaRPr lang="en-GB" b="1" dirty="0"/>
          </a:p>
        </p:txBody>
      </p:sp>
      <p:sp>
        <p:nvSpPr>
          <p:cNvPr id="10" name="Rectangle 5">
            <a:extLst>
              <a:ext uri="{FF2B5EF4-FFF2-40B4-BE49-F238E27FC236}">
                <a16:creationId xmlns:a16="http://schemas.microsoft.com/office/drawing/2014/main" id="{67EF10F6-C39A-AA72-A0C7-177404F3A2E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156203"/>
            <a:ext cx="6634089" cy="35100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3200" dirty="0"/>
              <a:t>Students struggle with:</a:t>
            </a:r>
          </a:p>
          <a:p>
            <a:r>
              <a:rPr lang="en-US" sz="3200" dirty="0"/>
              <a:t>Inconsistent study habits</a:t>
            </a:r>
          </a:p>
          <a:p>
            <a:r>
              <a:rPr lang="en-US" sz="3200" dirty="0"/>
              <a:t>Poor organisation</a:t>
            </a:r>
          </a:p>
          <a:p>
            <a:r>
              <a:rPr lang="en-US" sz="3200" dirty="0"/>
              <a:t>Difficulty summarizing content</a:t>
            </a:r>
          </a:p>
          <a:p>
            <a:r>
              <a:rPr lang="en-US" sz="3200" dirty="0"/>
              <a:t>Exam stress and inefficient revision</a:t>
            </a: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4184C46-C1B9-1C1D-A7F7-4EA22A23FEBB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Problem Definition</a:t>
            </a:r>
            <a:endParaRPr lang="en-GB" b="1" dirty="0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DF4928F-43A9-2C63-5FAF-31DF4813CE81}"/>
              </a:ext>
            </a:extLst>
          </p:cNvPr>
          <p:cNvSpPr/>
          <p:nvPr/>
        </p:nvSpPr>
        <p:spPr>
          <a:xfrm>
            <a:off x="7125111" y="2037048"/>
            <a:ext cx="4043632" cy="2783904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2800" b="1" dirty="0">
                <a:solidFill>
                  <a:schemeClr val="tx1"/>
                </a:solidFill>
              </a:rPr>
              <a:t>AI Study Buddy:</a:t>
            </a:r>
          </a:p>
          <a:p>
            <a:endParaRPr lang="en-US" sz="2800" b="1" dirty="0">
              <a:solidFill>
                <a:schemeClr val="tx1"/>
              </a:solidFill>
            </a:endParaRPr>
          </a:p>
          <a:p>
            <a:r>
              <a:rPr lang="en-US" sz="2800" dirty="0">
                <a:solidFill>
                  <a:schemeClr val="tx1"/>
                </a:solidFill>
              </a:rPr>
              <a:t>Supports summarization, flashcards, self-regulation, and focus.</a:t>
            </a:r>
            <a:endParaRPr lang="en-GB" sz="2800" dirty="0">
              <a:solidFill>
                <a:schemeClr val="tx1"/>
              </a:solidFill>
            </a:endParaRPr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019DE267-3FB0-916E-59C8-F44124A76E1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185"/>
          <a:stretch>
            <a:fillRect/>
          </a:stretch>
        </p:blipFill>
        <p:spPr bwMode="auto">
          <a:xfrm>
            <a:off x="10778067" y="-78356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68225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18DC3DA-F4E7-207D-7080-73913020CCD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449388" y="1928568"/>
            <a:ext cx="4643095" cy="4593122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Upload PDFs / images / text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AI Summaries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Flashcard generation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AI Chat Assistant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Focus Timer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Dashboard</a:t>
            </a: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Login / Registration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endParaRPr lang="en-US" altLang="en-US" dirty="0">
              <a:latin typeface="Arial" panose="020B0604020202020204" pitchFamily="34" charset="0"/>
            </a:endParaRPr>
          </a:p>
          <a:p>
            <a:endParaRPr lang="en-GB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43B12-B79B-2F5C-69DA-332E2A54EB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099518" y="2017343"/>
            <a:ext cx="6092481" cy="4120990"/>
          </a:xfrm>
        </p:spPr>
        <p:txBody>
          <a:bodyPr/>
          <a:lstStyle/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High usability &amp; learnability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Accessibility (WCAG 2.1)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Reliability &amp; stability</a:t>
            </a:r>
            <a:endParaRPr lang="en-GB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Performance: fast responses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Visual consistency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altLang="en-US" dirty="0">
                <a:latin typeface="Arial" panose="020B0604020202020204" pitchFamily="34" charset="0"/>
              </a:rPr>
              <a:t> Secure data handling</a:t>
            </a:r>
          </a:p>
          <a:p>
            <a:pPr marL="0" lv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endParaRPr lang="en-US" altLang="en-US" dirty="0">
              <a:latin typeface="Arial" panose="020B0604020202020204" pitchFamily="34" charset="0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1B9D9F1-B936-B41B-7A19-58079A4CDDD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1449388" y="804863"/>
            <a:ext cx="4643095" cy="1058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Functional Requirements</a:t>
            </a:r>
            <a:endParaRPr lang="en-GB" b="1" dirty="0"/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BF36F4F-86A4-35A6-0215-2B4ACCDE1DFA}"/>
              </a:ext>
            </a:extLst>
          </p:cNvPr>
          <p:cNvSpPr txBox="1">
            <a:spLocks/>
          </p:cNvSpPr>
          <p:nvPr/>
        </p:nvSpPr>
        <p:spPr>
          <a:xfrm>
            <a:off x="6099518" y="869706"/>
            <a:ext cx="4643095" cy="10588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Non-Functional Requirements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505272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7E3822-8FFB-646C-DA9A-0F83AA103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22935AA-737D-CE5E-2D65-E2571737C21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7185"/>
          <a:stretch>
            <a:fillRect/>
          </a:stretch>
        </p:blipFill>
        <p:spPr bwMode="auto">
          <a:xfrm>
            <a:off x="10778067" y="-78356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02E2FED-7A35-E693-6F02-F0F23294A44F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ROLE OF PERSONAS</a:t>
            </a:r>
          </a:p>
        </p:txBody>
      </p:sp>
      <p:pic>
        <p:nvPicPr>
          <p:cNvPr id="4100" name="Picture 4" descr="Note ">
            <a:extLst>
              <a:ext uri="{FF2B5EF4-FFF2-40B4-BE49-F238E27FC236}">
                <a16:creationId xmlns:a16="http://schemas.microsoft.com/office/drawing/2014/main" id="{3C685ECD-375B-C876-ACB2-05BEC6516EF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54853" y="4975590"/>
            <a:ext cx="1219200" cy="1219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1E296F32-16BF-9E29-9FA5-EEC8CB1B3D7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243495" y="1884707"/>
            <a:ext cx="9811358" cy="35394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Feature selection (flashcards, summaries, timer)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Interface simplicity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Selection of test participants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Future expansion (professor-led features)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971FBC09-14D9-5941-199B-EFB38B30F0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585954" y="440268"/>
            <a:ext cx="10269738" cy="568113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1881642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93B4680-0B63-E2BA-A6C2-692DA80644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E5736EDC-6B14-3290-2A33-9CA0037C3EDB}"/>
              </a:ext>
            </a:extLst>
          </p:cNvPr>
          <p:cNvSpPr/>
          <p:nvPr/>
        </p:nvSpPr>
        <p:spPr>
          <a:xfrm>
            <a:off x="2073728" y="1314491"/>
            <a:ext cx="8044543" cy="4229017"/>
          </a:xfrm>
          <a:prstGeom prst="rect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b="1" dirty="0">
                <a:solidFill>
                  <a:schemeClr val="tx1"/>
                </a:solidFill>
              </a:rPr>
              <a:t>2.</a:t>
            </a:r>
          </a:p>
          <a:p>
            <a:pPr algn="ctr"/>
            <a:r>
              <a:rPr lang="en-GB" sz="8000" b="1" dirty="0">
                <a:solidFill>
                  <a:schemeClr val="tx1"/>
                </a:solidFill>
              </a:rPr>
              <a:t>Explore</a:t>
            </a:r>
            <a:endParaRPr lang="en-IE" sz="6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5920118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763D3B-28F2-8FB9-921D-A0579C20C9F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6C2971-787E-5190-60F2-0435DA88F9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2 - Explore</a:t>
            </a:r>
            <a:endParaRPr lang="en-GB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9B6E569-3ECE-5525-D8DE-F1813F01200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2" r="51573"/>
          <a:stretch>
            <a:fillRect/>
          </a:stretch>
        </p:blipFill>
        <p:spPr bwMode="auto">
          <a:xfrm>
            <a:off x="10778067" y="-90917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Rectangle 5">
            <a:extLst>
              <a:ext uri="{FF2B5EF4-FFF2-40B4-BE49-F238E27FC236}">
                <a16:creationId xmlns:a16="http://schemas.microsoft.com/office/drawing/2014/main" id="{BC784A6B-C92E-A8A3-CC2E-0A8CA7CC96B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3004" y="2563898"/>
            <a:ext cx="10740421" cy="20717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US" sz="3200" i="1" dirty="0"/>
              <a:t>“As a student, I want to upload notes so I can get summaries.”</a:t>
            </a:r>
            <a:endParaRPr lang="en-US" sz="3200" dirty="0"/>
          </a:p>
          <a:p>
            <a:r>
              <a:rPr lang="en-US" sz="3200" i="1" dirty="0"/>
              <a:t>“As a student, I want to utilise flashcards to revise efficiently.”</a:t>
            </a:r>
            <a:endParaRPr lang="en-US" sz="3200" dirty="0"/>
          </a:p>
          <a:p>
            <a:r>
              <a:rPr lang="en-US" sz="3200" i="1" dirty="0"/>
              <a:t>“As a student, I want a timer so I can focus during study sessions.”</a:t>
            </a:r>
            <a:endParaRPr lang="en-US" sz="3200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1D1DEC5-0682-1C00-A84F-24862DC7B945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USER STORIES: EXAMPLEs</a:t>
            </a:r>
          </a:p>
        </p:txBody>
      </p:sp>
    </p:spTree>
    <p:extLst>
      <p:ext uri="{BB962C8B-B14F-4D97-AF65-F5344CB8AC3E}">
        <p14:creationId xmlns:p14="http://schemas.microsoft.com/office/powerpoint/2010/main" val="18735838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AD6DC7-91E5-6CAA-4796-5E57D2486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E9B7BA1-3E87-F47B-A66E-83B5DF7EEE5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5612" r="51573"/>
          <a:stretch>
            <a:fillRect/>
          </a:stretch>
        </p:blipFill>
        <p:spPr bwMode="auto">
          <a:xfrm>
            <a:off x="10778067" y="-90917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3B523740-62BB-519F-5F60-41614A532684}"/>
              </a:ext>
            </a:extLst>
          </p:cNvPr>
          <p:cNvSpPr txBox="1">
            <a:spLocks/>
          </p:cNvSpPr>
          <p:nvPr/>
        </p:nvSpPr>
        <p:spPr>
          <a:xfrm>
            <a:off x="1451576" y="3924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825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FIGMA → APPLICATION EVOLUTION (Module Selection)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4C6C665-F695-CCA5-BC4B-B2352B0BBC1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650" y="752376"/>
            <a:ext cx="10253083" cy="6086898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672866-1C3E-213D-2A3F-0BF7AE87938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90649" y="752376"/>
            <a:ext cx="10253083" cy="60307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333087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7C22C14-38C4-279C-8C1F-E253EDCF43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20C2DA7-08A3-3889-7372-9488593CB0AB}"/>
              </a:ext>
            </a:extLst>
          </p:cNvPr>
          <p:cNvSpPr/>
          <p:nvPr/>
        </p:nvSpPr>
        <p:spPr>
          <a:xfrm>
            <a:off x="2073728" y="1314491"/>
            <a:ext cx="8044543" cy="4229017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b="1" dirty="0">
                <a:solidFill>
                  <a:schemeClr val="tx1"/>
                </a:solidFill>
              </a:rPr>
              <a:t>3.</a:t>
            </a:r>
          </a:p>
          <a:p>
            <a:pPr algn="ctr"/>
            <a:r>
              <a:rPr lang="en-GB" sz="8000" b="1" dirty="0">
                <a:solidFill>
                  <a:schemeClr val="tx1"/>
                </a:solidFill>
              </a:rPr>
              <a:t>Test</a:t>
            </a:r>
            <a:endParaRPr lang="en-IE" sz="6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784650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BD31AC-6145-83D8-6437-E78484730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5821F0-90CC-01CB-BD80-C894832E76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3 - Test</a:t>
            </a:r>
            <a:endParaRPr lang="en-GB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98550A1B-E0E0-0AAE-D7F3-728E350E15E2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E" b="1" dirty="0"/>
              <a:t>Methodology Overview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EB5FACA-01EF-163D-1292-8695D5FB0B4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623724"/>
            <a:ext cx="9682692" cy="20306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r>
              <a:rPr lang="en-GB" sz="3600" b="1" dirty="0"/>
              <a:t>Mixed-methods usability evaluation combining quantitative and qualitative approaches</a:t>
            </a:r>
            <a:endParaRPr lang="en-GB" sz="3600" dirty="0"/>
          </a:p>
        </p:txBody>
      </p:sp>
    </p:spTree>
    <p:extLst>
      <p:ext uri="{BB962C8B-B14F-4D97-AF65-F5344CB8AC3E}">
        <p14:creationId xmlns:p14="http://schemas.microsoft.com/office/powerpoint/2010/main" val="275392606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CE7CC6-0EFB-6692-A00A-1395CE1A39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985F0-23FC-80E5-2C12-595965FEA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3 - Test</a:t>
            </a:r>
            <a:endParaRPr lang="en-GB" b="1" dirty="0"/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0BC20DC5-8FEA-074F-036D-B0325692D58F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IE" b="1" dirty="0"/>
              <a:t>Methodology Overview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14B8918-E6D0-0103-A7A1-2BF618157A03}"/>
              </a:ext>
            </a:extLst>
          </p:cNvPr>
          <p:cNvSpPr/>
          <p:nvPr/>
        </p:nvSpPr>
        <p:spPr>
          <a:xfrm>
            <a:off x="3793670" y="2012309"/>
            <a:ext cx="3712029" cy="1969325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System Usability Scale (SUS)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CC016F2E-03C7-564E-4390-D73E222C4864}"/>
              </a:ext>
            </a:extLst>
          </p:cNvPr>
          <p:cNvSpPr/>
          <p:nvPr/>
        </p:nvSpPr>
        <p:spPr>
          <a:xfrm>
            <a:off x="569616" y="1882411"/>
            <a:ext cx="3712029" cy="1969325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Expert Review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1C142B50-5D7D-9418-BA35-C7DBE9A4BE4B}"/>
              </a:ext>
            </a:extLst>
          </p:cNvPr>
          <p:cNvSpPr/>
          <p:nvPr/>
        </p:nvSpPr>
        <p:spPr>
          <a:xfrm>
            <a:off x="569616" y="3315621"/>
            <a:ext cx="3712029" cy="1969325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Observational Walkthrough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43C161BE-7B0B-4FA7-280A-2CA2769D204F}"/>
              </a:ext>
            </a:extLst>
          </p:cNvPr>
          <p:cNvSpPr/>
          <p:nvPr/>
        </p:nvSpPr>
        <p:spPr>
          <a:xfrm>
            <a:off x="7135995" y="1993463"/>
            <a:ext cx="3712029" cy="1969325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Think-Aloud (written)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71F8A65-5C09-DB12-7EEE-8DF76378BB49}"/>
              </a:ext>
            </a:extLst>
          </p:cNvPr>
          <p:cNvSpPr/>
          <p:nvPr/>
        </p:nvSpPr>
        <p:spPr>
          <a:xfrm>
            <a:off x="3716939" y="3761799"/>
            <a:ext cx="3712029" cy="1969325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Accessibility Checks</a:t>
            </a:r>
            <a:endParaRPr lang="en-IE" sz="2800" b="1" dirty="0">
              <a:solidFill>
                <a:schemeClr val="tx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86FE0E1F-3602-69EE-1D03-1EFB26836312}"/>
              </a:ext>
            </a:extLst>
          </p:cNvPr>
          <p:cNvSpPr/>
          <p:nvPr/>
        </p:nvSpPr>
        <p:spPr>
          <a:xfrm>
            <a:off x="6864262" y="3742953"/>
            <a:ext cx="3712029" cy="1969325"/>
          </a:xfrm>
          <a:prstGeom prst="ellipse">
            <a:avLst/>
          </a:prstGeom>
          <a:solidFill>
            <a:srgbClr val="FFFF9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2800" b="1" dirty="0">
                <a:solidFill>
                  <a:schemeClr val="tx1"/>
                </a:solidFill>
              </a:rPr>
              <a:t>Open-Ended Questionnaire</a:t>
            </a:r>
            <a:endParaRPr lang="en-IE" sz="28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360530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13C89-7D86-0FF9-A4EC-12B35D5542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FC9B1D27-BF99-8501-4984-C0CF1432188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6E8F420-5878-7B33-35BD-6D070C1DC4BB}"/>
              </a:ext>
            </a:extLst>
          </p:cNvPr>
          <p:cNvSpPr txBox="1">
            <a:spLocks/>
          </p:cNvSpPr>
          <p:nvPr/>
        </p:nvSpPr>
        <p:spPr>
          <a:xfrm>
            <a:off x="1451580" y="1374596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EXPERT REVIEW (ANDREA)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EA908278-80CC-116E-602B-141D3CD73492}"/>
              </a:ext>
            </a:extLst>
          </p:cNvPr>
          <p:cNvSpPr txBox="1">
            <a:spLocks/>
          </p:cNvSpPr>
          <p:nvPr/>
        </p:nvSpPr>
        <p:spPr>
          <a:xfrm>
            <a:off x="7183090" y="1918545"/>
            <a:ext cx="4627909" cy="407948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400" b="1" dirty="0"/>
              <a:t>Feedback:</a:t>
            </a:r>
          </a:p>
          <a:p>
            <a:pPr lvl="1"/>
            <a:r>
              <a:rPr lang="en-US" sz="2400" dirty="0"/>
              <a:t>Various pages &amp; Figma designs</a:t>
            </a:r>
          </a:p>
          <a:p>
            <a:pPr lvl="1"/>
            <a:r>
              <a:rPr lang="en-US" sz="2400" dirty="0"/>
              <a:t>Highlighted design choices</a:t>
            </a:r>
          </a:p>
          <a:p>
            <a:pPr lvl="1"/>
            <a:r>
              <a:rPr lang="en-US" sz="2400" dirty="0"/>
              <a:t>Gave advice on features from our various designs</a:t>
            </a:r>
          </a:p>
          <a:p>
            <a:pPr marL="457200" lvl="1" indent="0">
              <a:buNone/>
            </a:pPr>
            <a:r>
              <a:rPr lang="en-US" sz="2400" i="1" dirty="0"/>
              <a:t>- Dev focus on features, but feedback will be implemented later</a:t>
            </a:r>
          </a:p>
          <a:p>
            <a:pPr marL="0" indent="0">
              <a:buNone/>
            </a:pPr>
            <a:endParaRPr lang="en-US" sz="2400" dirty="0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ED3F12AF-3756-200C-DD11-5E22B5E67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451580" y="1918546"/>
            <a:ext cx="5731510" cy="3393440"/>
          </a:xfrm>
          <a:prstGeom prst="rect">
            <a:avLst/>
          </a:prstGeom>
        </p:spPr>
      </p:pic>
      <p:sp>
        <p:nvSpPr>
          <p:cNvPr id="4" name="Title 1">
            <a:extLst>
              <a:ext uri="{FF2B5EF4-FFF2-40B4-BE49-F238E27FC236}">
                <a16:creationId xmlns:a16="http://schemas.microsoft.com/office/drawing/2014/main" id="{EFCC8E43-BE66-69D0-49B6-780428EFDF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3 - Test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7677691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EA9B62-01E7-099F-FFD0-E875877B4A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CEA2302-0F44-6CF8-C887-AA35192CA0D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1498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5AD7E2B-BF45-4282-4156-78C94AF5974B}"/>
              </a:ext>
            </a:extLst>
          </p:cNvPr>
          <p:cNvSpPr txBox="1">
            <a:spLocks/>
          </p:cNvSpPr>
          <p:nvPr/>
        </p:nvSpPr>
        <p:spPr>
          <a:xfrm>
            <a:off x="1451580" y="14084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Accessibility Checks</a:t>
            </a:r>
            <a:endParaRPr lang="en-GB" b="1" dirty="0"/>
          </a:p>
        </p:txBody>
      </p:sp>
      <p:sp>
        <p:nvSpPr>
          <p:cNvPr id="6" name="Rectangle 2">
            <a:extLst>
              <a:ext uri="{FF2B5EF4-FFF2-40B4-BE49-F238E27FC236}">
                <a16:creationId xmlns:a16="http://schemas.microsoft.com/office/drawing/2014/main" id="{1BE77DC7-7720-15EE-B4CB-530FF6218E8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85742" y="2357921"/>
            <a:ext cx="5425011" cy="309161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400" b="1" dirty="0">
                <a:latin typeface="Arial" panose="020B0604020202020204" pitchFamily="34" charset="0"/>
              </a:rPr>
              <a:t>Tools used: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lvl="1"/>
            <a:r>
              <a:rPr lang="en-US" sz="2400" dirty="0"/>
              <a:t>WAVE </a:t>
            </a:r>
            <a:r>
              <a:rPr lang="en-US" sz="2400" dirty="0" err="1"/>
              <a:t>WebAIM</a:t>
            </a:r>
            <a:endParaRPr lang="en-US" sz="2400" dirty="0"/>
          </a:p>
          <a:p>
            <a:pPr lvl="1"/>
            <a:r>
              <a:rPr lang="en-US" sz="2400" dirty="0"/>
              <a:t>W3C Colour Contrast Checker</a:t>
            </a:r>
          </a:p>
          <a:p>
            <a:pPr lvl="1"/>
            <a:r>
              <a:rPr lang="en-US" sz="2400" dirty="0"/>
              <a:t>IBM Equal Access Checker (Planned)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endParaRPr lang="en-US" altLang="en-US" sz="2400" b="1" dirty="0"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	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2F94C71-0BD1-FCDE-95FB-BEC1D0B1E3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991084" y="2014431"/>
            <a:ext cx="2560955" cy="384810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1CAA413-C056-5314-E1DA-983A549C769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41659" y="2014431"/>
            <a:ext cx="1749425" cy="38481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7F808B3-F81B-BEB9-2EB6-E1FA134FBA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3 - Test</a:t>
            </a:r>
            <a:endParaRPr lang="en-GB" b="1" dirty="0"/>
          </a:p>
        </p:txBody>
      </p:sp>
    </p:spTree>
    <p:extLst>
      <p:ext uri="{BB962C8B-B14F-4D97-AF65-F5344CB8AC3E}">
        <p14:creationId xmlns:p14="http://schemas.microsoft.com/office/powerpoint/2010/main" val="290381392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3E1181C-B9E5-BC8F-8998-D1BDDBEA49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CFD896-3145-ADAA-F556-DECCDB84DA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3 - Test</a:t>
            </a:r>
            <a:endParaRPr lang="en-GB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71F38134-D225-6988-3F2C-8C69C2D9D6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E6DABED2-DF8A-30BD-8DCD-408D5084E2FF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</a:t>
            </a:r>
            <a:r>
              <a:rPr lang="en-GB" b="1" dirty="0"/>
              <a:t>valuation Setup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29023A4-9BE9-E73C-76F0-677ACAFA2F2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207873"/>
            <a:ext cx="9682692" cy="286232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19 participants (observational)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11 completed full questionnaire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36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Walkthrough due to university firewall issue</a:t>
            </a:r>
          </a:p>
        </p:txBody>
      </p:sp>
    </p:spTree>
    <p:extLst>
      <p:ext uri="{BB962C8B-B14F-4D97-AF65-F5344CB8AC3E}">
        <p14:creationId xmlns:p14="http://schemas.microsoft.com/office/powerpoint/2010/main" val="295756649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4BEB36-9C40-9970-F9C1-725CC079C53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7EE9BDC-A79F-5777-BBAA-902C79C3872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047C11-E5BC-B0DC-43E4-A7EB0B335BC5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</a:t>
            </a:r>
            <a:r>
              <a:rPr lang="en-GB" b="1" dirty="0"/>
              <a:t>valuation Setup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C095DCF-0C53-14AF-411F-7828AEDB18C1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669293" y="2308509"/>
            <a:ext cx="9682692" cy="36625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Methods used: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SUS (System Usability Scale)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Qualitative open-ended questions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Think-aloud (written)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Observational task clarity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Accessibility checks</a:t>
            </a:r>
          </a:p>
          <a:p>
            <a:pPr marL="457200" lvl="1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Expert review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2265549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195814D-A1D6-D898-D3FD-818649E94C3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C9E95D7-6FE3-35C0-C3BC-7A47C51EBDED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B50E8297-20B8-34DB-76A8-1E00466E3D4E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Ethical Considerations</a:t>
            </a:r>
            <a:endParaRPr lang="en-GB" b="1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26FB4E69-DAB4-868B-2457-5284829D41A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7" y="2297934"/>
            <a:ext cx="9603275" cy="267765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Fully voluntary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Anonymous responses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No personal data collected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Secure storage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Low-risk classroom setting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Aligned with research integrity standards</a:t>
            </a:r>
          </a:p>
        </p:txBody>
      </p:sp>
    </p:spTree>
    <p:extLst>
      <p:ext uri="{BB962C8B-B14F-4D97-AF65-F5344CB8AC3E}">
        <p14:creationId xmlns:p14="http://schemas.microsoft.com/office/powerpoint/2010/main" val="127992884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372664-C025-E3FA-276C-6CFEF92CA7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A66F7BB-CC14-61CA-FB9E-6604045126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5ABFF10-DB96-23A1-F1EC-C709B3C60BFF}"/>
              </a:ext>
            </a:extLst>
          </p:cNvPr>
          <p:cNvSpPr txBox="1">
            <a:spLocks/>
          </p:cNvSpPr>
          <p:nvPr/>
        </p:nvSpPr>
        <p:spPr>
          <a:xfrm>
            <a:off x="1294362" y="231596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OBSERVATIONAL FINDINGS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6E7808-A389-96DD-2739-9035AB55C1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731933" y="2015732"/>
            <a:ext cx="5322921" cy="3450613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-US" sz="2800" dirty="0"/>
              <a:t>Clarity ratings:</a:t>
            </a:r>
          </a:p>
          <a:p>
            <a:r>
              <a:rPr lang="en-US" sz="2800" dirty="0"/>
              <a:t>Dashboard: 95%</a:t>
            </a:r>
          </a:p>
          <a:p>
            <a:r>
              <a:rPr lang="en-US" sz="2800" dirty="0"/>
              <a:t>Upload Notes: 88%</a:t>
            </a:r>
          </a:p>
          <a:p>
            <a:r>
              <a:rPr lang="en-US" sz="2800" dirty="0"/>
              <a:t>Focus Timer: 90%</a:t>
            </a:r>
          </a:p>
          <a:p>
            <a:r>
              <a:rPr lang="en-US" sz="2800" dirty="0"/>
              <a:t>AI Assistant: 85%</a:t>
            </a:r>
          </a:p>
          <a:p>
            <a:r>
              <a:rPr lang="en-US" sz="2800" dirty="0"/>
              <a:t>Flashcards: 82%</a:t>
            </a:r>
          </a:p>
          <a:p>
            <a:endParaRPr lang="en-GB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A24E67C-DB74-F267-BC00-BF14CF4E48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511" y="861255"/>
            <a:ext cx="5135489" cy="51354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896657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8ED50A-2B0F-D8BB-1377-663A70F023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10CE8E2-A1A7-9CB7-ECE5-5488604511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1D6F04C7-9DA5-4AC2-C34E-81B1EFABA070}"/>
              </a:ext>
            </a:extLst>
          </p:cNvPr>
          <p:cNvSpPr txBox="1">
            <a:spLocks/>
          </p:cNvSpPr>
          <p:nvPr/>
        </p:nvSpPr>
        <p:spPr>
          <a:xfrm>
            <a:off x="1451580" y="1374596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QUALITATIVE THEMES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F7D5FEF-6BFE-4F3E-3483-71BA6D9F1E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015732"/>
            <a:ext cx="3208868" cy="2850182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800" b="1" dirty="0"/>
              <a:t>Most useful:</a:t>
            </a:r>
          </a:p>
          <a:p>
            <a:pPr lvl="1"/>
            <a:r>
              <a:rPr lang="en-US" sz="2400" dirty="0"/>
              <a:t>Flashcards</a:t>
            </a:r>
          </a:p>
          <a:p>
            <a:pPr lvl="1"/>
            <a:r>
              <a:rPr lang="en-US" sz="2400" dirty="0"/>
              <a:t>Timer</a:t>
            </a:r>
          </a:p>
          <a:p>
            <a:pPr lvl="1"/>
            <a:r>
              <a:rPr lang="en-US" sz="2400" dirty="0"/>
              <a:t>AI summaries</a:t>
            </a:r>
          </a:p>
        </p:txBody>
      </p:sp>
      <p:sp>
        <p:nvSpPr>
          <p:cNvPr id="2" name="Content Placeholder 3">
            <a:extLst>
              <a:ext uri="{FF2B5EF4-FFF2-40B4-BE49-F238E27FC236}">
                <a16:creationId xmlns:a16="http://schemas.microsoft.com/office/drawing/2014/main" id="{2A975B46-F1A3-1A45-2A89-E3E50676CD94}"/>
              </a:ext>
            </a:extLst>
          </p:cNvPr>
          <p:cNvSpPr txBox="1">
            <a:spLocks/>
          </p:cNvSpPr>
          <p:nvPr/>
        </p:nvSpPr>
        <p:spPr>
          <a:xfrm>
            <a:off x="3526972" y="2015732"/>
            <a:ext cx="4931227" cy="306426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2800" b="1" dirty="0"/>
              <a:t>Missing features:</a:t>
            </a:r>
          </a:p>
          <a:p>
            <a:pPr lvl="1"/>
            <a:r>
              <a:rPr lang="en-US" sz="2400" dirty="0"/>
              <a:t>Export notes / flashcards</a:t>
            </a:r>
          </a:p>
          <a:p>
            <a:pPr lvl="1"/>
            <a:r>
              <a:rPr lang="en-US" sz="2400" dirty="0"/>
              <a:t>Dark mode</a:t>
            </a:r>
          </a:p>
          <a:p>
            <a:pPr lvl="1"/>
            <a:r>
              <a:rPr lang="en-US" sz="2400" dirty="0"/>
              <a:t>Repetition for incorrect answers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E7866F18-DE6F-E69B-98E9-A715511EFDF9}"/>
              </a:ext>
            </a:extLst>
          </p:cNvPr>
          <p:cNvSpPr txBox="1">
            <a:spLocks/>
          </p:cNvSpPr>
          <p:nvPr/>
        </p:nvSpPr>
        <p:spPr>
          <a:xfrm>
            <a:off x="8221130" y="2015732"/>
            <a:ext cx="3208870" cy="231073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120000"/>
              </a:lnSpc>
              <a:spcBef>
                <a:spcPts val="10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8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400" kern="1200" cap="none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120000"/>
              </a:lnSpc>
              <a:spcBef>
                <a:spcPts val="500"/>
              </a:spcBef>
              <a:buClr>
                <a:schemeClr val="accent1"/>
              </a:buClr>
              <a:buSzPct val="100000"/>
              <a:buFont typeface="Arial" panose="020B0604020202020204" pitchFamily="34" charset="0"/>
              <a:buChar char="•"/>
              <a:defRPr sz="1200" kern="1200" baseline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200" b="1" dirty="0"/>
              <a:t>Minor issues:</a:t>
            </a:r>
          </a:p>
          <a:p>
            <a:pPr lvl="1"/>
            <a:r>
              <a:rPr lang="en-US" sz="2800" dirty="0"/>
              <a:t>Timer unclear</a:t>
            </a:r>
          </a:p>
          <a:p>
            <a:pPr lvl="1"/>
            <a:r>
              <a:rPr lang="en-US" sz="2800" dirty="0"/>
              <a:t>Dashboard needs descriptions</a:t>
            </a:r>
          </a:p>
        </p:txBody>
      </p:sp>
    </p:spTree>
    <p:extLst>
      <p:ext uri="{BB962C8B-B14F-4D97-AF65-F5344CB8AC3E}">
        <p14:creationId xmlns:p14="http://schemas.microsoft.com/office/powerpoint/2010/main" val="172862724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5403C2-2E83-F1DA-82E7-115B852C0C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611F4A78-3BE8-082E-4B1F-0DB5342CD11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FBD4A119-8E34-2102-0E32-9EC849F34173}"/>
              </a:ext>
            </a:extLst>
          </p:cNvPr>
          <p:cNvSpPr txBox="1">
            <a:spLocks/>
          </p:cNvSpPr>
          <p:nvPr/>
        </p:nvSpPr>
        <p:spPr>
          <a:xfrm>
            <a:off x="1451580" y="14084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Solo Taxonomy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9DF163-01B5-5CD2-BFEF-2D5D0AAB168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64713" y="2091932"/>
            <a:ext cx="2959554" cy="1938201"/>
          </a:xfrm>
        </p:spPr>
        <p:txBody>
          <a:bodyPr/>
          <a:lstStyle/>
          <a:p>
            <a:pPr marL="0" indent="0">
              <a:buNone/>
            </a:pPr>
            <a:r>
              <a:rPr lang="en-GB" b="1" dirty="0"/>
              <a:t>82% </a:t>
            </a:r>
            <a:r>
              <a:rPr lang="en-GB" dirty="0"/>
              <a:t>= Multi-structural or higher</a:t>
            </a:r>
            <a:endParaRPr lang="en-US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09CF9B76-F62E-AFBF-4424-09B40F6C7B79}"/>
              </a:ext>
            </a:extLst>
          </p:cNvPr>
          <p:cNvGraphicFramePr>
            <a:graphicFrameLocks noGrp="1"/>
          </p:cNvGraphicFramePr>
          <p:nvPr/>
        </p:nvGraphicFramePr>
        <p:xfrm>
          <a:off x="1451580" y="1954941"/>
          <a:ext cx="7532476" cy="3760058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510547">
                  <a:extLst>
                    <a:ext uri="{9D8B030D-6E8A-4147-A177-3AD203B41FA5}">
                      <a16:colId xmlns:a16="http://schemas.microsoft.com/office/drawing/2014/main" val="1212261495"/>
                    </a:ext>
                  </a:extLst>
                </a:gridCol>
                <a:gridCol w="2510547">
                  <a:extLst>
                    <a:ext uri="{9D8B030D-6E8A-4147-A177-3AD203B41FA5}">
                      <a16:colId xmlns:a16="http://schemas.microsoft.com/office/drawing/2014/main" val="1090255816"/>
                    </a:ext>
                  </a:extLst>
                </a:gridCol>
                <a:gridCol w="2511382">
                  <a:extLst>
                    <a:ext uri="{9D8B030D-6E8A-4147-A177-3AD203B41FA5}">
                      <a16:colId xmlns:a16="http://schemas.microsoft.com/office/drawing/2014/main" val="3244693999"/>
                    </a:ext>
                  </a:extLst>
                </a:gridCol>
              </a:tblGrid>
              <a:tr h="274957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SOLO Level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Count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50" kern="100">
                          <a:effectLst/>
                        </a:rPr>
                        <a:t>Example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2701486"/>
                  </a:ext>
                </a:extLst>
              </a:tr>
              <a:tr h="573116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Uni-Structural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 dirty="0">
                          <a:effectLst/>
                        </a:rPr>
                        <a:t>2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50" kern="100">
                          <a:effectLst/>
                        </a:rPr>
                        <a:t>“Flashcards were useful”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61590455"/>
                  </a:ext>
                </a:extLst>
              </a:tr>
              <a:tr h="871275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Multi-Structural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5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50" kern="100">
                          <a:effectLst/>
                        </a:rPr>
                        <a:t>Several missing features or reasons for usefulness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97607652"/>
                  </a:ext>
                </a:extLst>
              </a:tr>
              <a:tr h="573116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Relational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3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50" kern="100">
                          <a:effectLst/>
                        </a:rPr>
                        <a:t>Connects the features to studying habits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4657414"/>
                  </a:ext>
                </a:extLst>
              </a:tr>
              <a:tr h="1467594"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Extended Abstract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buNone/>
                      </a:pPr>
                      <a:r>
                        <a:rPr lang="en-GB" sz="1150" kern="100">
                          <a:effectLst/>
                        </a:rPr>
                        <a:t>1</a:t>
                      </a:r>
                      <a:endParaRPr lang="en-GB" sz="1200" kern="10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457200">
                        <a:lnSpc>
                          <a:spcPct val="115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GB" sz="1150" kern="100" dirty="0">
                          <a:effectLst/>
                        </a:rPr>
                        <a:t>Suggested structural improvements which were tied to learning outcomes (e.g., blueprint roadmap)</a:t>
                      </a:r>
                      <a:endParaRPr lang="en-GB" sz="1200" kern="100" dirty="0">
                        <a:effectLst/>
                        <a:latin typeface="Times New Roman" panose="02020603050405020304" pitchFamily="18" charset="0"/>
                        <a:ea typeface="Aptos" panose="020B000402020202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087803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7453100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71C17A-DEFD-99AB-7CDC-A7894C88F4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A4D19C0D-0D8F-3FA9-8A46-564A66B7436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9DE1B66E-ED6B-2C9B-C0C5-27B5BB229995}"/>
              </a:ext>
            </a:extLst>
          </p:cNvPr>
          <p:cNvSpPr txBox="1">
            <a:spLocks/>
          </p:cNvSpPr>
          <p:nvPr/>
        </p:nvSpPr>
        <p:spPr>
          <a:xfrm>
            <a:off x="1451580" y="14084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System Usability Scale (SUS)</a:t>
            </a:r>
            <a:endParaRPr lang="en-GB" b="1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ED64A0-9C07-03BC-A27A-E75CBEAD55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001000" y="2921665"/>
            <a:ext cx="4016829" cy="1938201"/>
          </a:xfrm>
        </p:spPr>
        <p:txBody>
          <a:bodyPr>
            <a:normAutofit/>
          </a:bodyPr>
          <a:lstStyle/>
          <a:p>
            <a:pPr>
              <a:buFontTx/>
              <a:buChar char="-"/>
            </a:pPr>
            <a:r>
              <a:rPr lang="en-GB" sz="2800" dirty="0"/>
              <a:t>Benchmark of 80</a:t>
            </a:r>
          </a:p>
          <a:p>
            <a:pPr>
              <a:buFontTx/>
              <a:buChar char="-"/>
            </a:pPr>
            <a:r>
              <a:rPr lang="en-GB" sz="2800" dirty="0"/>
              <a:t>Score: 84.1 (“Excellent”)</a:t>
            </a:r>
            <a:endParaRPr lang="en-US" sz="2800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C3B0F7D-78D1-8209-909E-E05D94B235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857011"/>
            <a:ext cx="8097158" cy="5000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123669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884C8C-DEF4-5583-9ED8-359D3369D6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B441E90-F5FF-112F-07B3-1C86E8547AF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0608" t="-6895" r="26577" b="6895"/>
          <a:stretch>
            <a:fillRect/>
          </a:stretch>
        </p:blipFill>
        <p:spPr bwMode="auto">
          <a:xfrm>
            <a:off x="10778067" y="-73664"/>
            <a:ext cx="1413933" cy="84329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0200877-3238-E2A9-50CE-DCE25C35AA7E}"/>
              </a:ext>
            </a:extLst>
          </p:cNvPr>
          <p:cNvSpPr txBox="1">
            <a:spLocks/>
          </p:cNvSpPr>
          <p:nvPr/>
        </p:nvSpPr>
        <p:spPr>
          <a:xfrm>
            <a:off x="1451580" y="14084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b="1" dirty="0"/>
              <a:t>System Usability Scale (SUS)</a:t>
            </a:r>
            <a:endParaRPr lang="en-GB" b="1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AC2B8DD-6949-B68E-19C6-CFE79A99D80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00692" y="1857011"/>
            <a:ext cx="6895774" cy="5000989"/>
          </a:xfrm>
          <a:prstGeom prst="rect">
            <a:avLst/>
          </a:prstGeom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3FD1ACFB-FA8C-CBC2-5A59-D015A381A0F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7496466" y="2885593"/>
            <a:ext cx="4623382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- Motivation: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4.09 / 5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2800" dirty="0">
                <a:latin typeface="Arial" panose="020B0604020202020204" pitchFamily="34" charset="0"/>
              </a:rPr>
              <a:t>-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Recommendation: </a:t>
            </a: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4.73 / 5</a:t>
            </a: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383003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331F61-CE80-8A01-7609-85583828F9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7A3F704-1B79-329D-7AC7-5A5009BD425F}"/>
              </a:ext>
            </a:extLst>
          </p:cNvPr>
          <p:cNvSpPr/>
          <p:nvPr/>
        </p:nvSpPr>
        <p:spPr>
          <a:xfrm>
            <a:off x="2073728" y="1314491"/>
            <a:ext cx="8044543" cy="4229017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GB" sz="8000" b="1" dirty="0">
                <a:solidFill>
                  <a:schemeClr val="tx1"/>
                </a:solidFill>
              </a:rPr>
              <a:t>4.</a:t>
            </a:r>
          </a:p>
          <a:p>
            <a:pPr algn="ctr"/>
            <a:r>
              <a:rPr lang="en-GB" sz="8000" b="1" dirty="0">
                <a:solidFill>
                  <a:schemeClr val="tx1"/>
                </a:solidFill>
              </a:rPr>
              <a:t>Listen</a:t>
            </a:r>
            <a:endParaRPr lang="en-IE" sz="6600" b="1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11065546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8E5F3-1231-BDC7-B59E-C8ED530170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C1BAEF-B80E-E1A9-F375-BFCB9D9D20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0"/>
            <a:ext cx="9603275" cy="448548"/>
          </a:xfrm>
        </p:spPr>
        <p:txBody>
          <a:bodyPr>
            <a:normAutofit fontScale="90000"/>
          </a:bodyPr>
          <a:lstStyle/>
          <a:p>
            <a:r>
              <a:rPr lang="en-US" b="1" dirty="0"/>
              <a:t>Phase 4 - Listen</a:t>
            </a:r>
            <a:endParaRPr lang="en-GB" b="1" dirty="0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27205D7A-CDFB-74DC-3816-0DBC7DC2C99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2" t="9854" r="1055" b="-4061"/>
          <a:stretch>
            <a:fillRect/>
          </a:stretch>
        </p:blipFill>
        <p:spPr bwMode="auto">
          <a:xfrm>
            <a:off x="10802970" y="0"/>
            <a:ext cx="1389030" cy="79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046FA4D3-FB5A-5005-48E8-CAE72B8D3B75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Key Changes to Implement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6EDBA34-CA3A-A449-5C7A-B377D9B3FA32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520670" y="2266034"/>
            <a:ext cx="7245350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New dashboard onboarding text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Larger, clearer icons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timer settings button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Add search bar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Improve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colour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contrast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Clearer upload instructions</a:t>
            </a:r>
          </a:p>
        </p:txBody>
      </p:sp>
    </p:spTree>
    <p:extLst>
      <p:ext uri="{BB962C8B-B14F-4D97-AF65-F5344CB8AC3E}">
        <p14:creationId xmlns:p14="http://schemas.microsoft.com/office/powerpoint/2010/main" val="369566602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78A185-E33C-2E34-42BA-E2CAB5352F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0083640-9973-B0A3-C88F-0AB74619795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2" t="9854" r="1055" b="-4061"/>
          <a:stretch>
            <a:fillRect/>
          </a:stretch>
        </p:blipFill>
        <p:spPr bwMode="auto">
          <a:xfrm>
            <a:off x="10802970" y="0"/>
            <a:ext cx="1389030" cy="79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2927CDE1-E6FD-3C21-4FDE-ACA1B7C900E3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Feature Roadmap</a:t>
            </a:r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4E2A8602-0FB3-36AD-7104-37913A2EF43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0974" y="2174749"/>
            <a:ext cx="829173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Exportable summaries &amp; flashcards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Dark mode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Spaced repetition learning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Re-ask incorrect flashcards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Professor view</a:t>
            </a:r>
          </a:p>
        </p:txBody>
      </p:sp>
    </p:spTree>
    <p:extLst>
      <p:ext uri="{BB962C8B-B14F-4D97-AF65-F5344CB8AC3E}">
        <p14:creationId xmlns:p14="http://schemas.microsoft.com/office/powerpoint/2010/main" val="122657856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AE452A-A932-F699-C2CD-097BE5129F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5904AFE3-D7DB-87E3-D85A-20DDEE628B5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2" t="9854" r="1055" b="-4061"/>
          <a:stretch>
            <a:fillRect/>
          </a:stretch>
        </p:blipFill>
        <p:spPr bwMode="auto">
          <a:xfrm>
            <a:off x="10802970" y="0"/>
            <a:ext cx="1389030" cy="79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0855F56-712C-813D-5D2B-10A85ACDC91C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TECHNICAL IMPROVEMENTS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12C53115-654B-A15F-097B-6EA26C08D43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151727"/>
            <a:ext cx="8247593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Host on cloud (no firewall issues)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Faster PDF parsing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Cache AI outputs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UI rendering </a:t>
            </a:r>
            <a:r>
              <a:rPr kumimoji="0" lang="en-US" altLang="en-US" sz="3200" b="0" i="0" u="none" strike="noStrike" cap="none" normalizeH="0" baseline="0" dirty="0" err="1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optimised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Better error handling</a:t>
            </a:r>
          </a:p>
        </p:txBody>
      </p:sp>
    </p:spTree>
    <p:extLst>
      <p:ext uri="{BB962C8B-B14F-4D97-AF65-F5344CB8AC3E}">
        <p14:creationId xmlns:p14="http://schemas.microsoft.com/office/powerpoint/2010/main" val="91102922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0D8DB9-4927-694B-5B7E-EC3FA4EA6E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2701912-A687-0C6A-8EAF-B0EF3DE35E30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2" t="9854" r="1055" b="-4061"/>
          <a:stretch>
            <a:fillRect/>
          </a:stretch>
        </p:blipFill>
        <p:spPr bwMode="auto">
          <a:xfrm>
            <a:off x="10802970" y="0"/>
            <a:ext cx="1389030" cy="79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6C3F15B1-6E57-ADE6-B97D-9CC027074BAE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b="1" dirty="0"/>
              <a:t>FUTURE TESTING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85381E09-ECDC-A876-C0F5-DE1DBA4994B0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451578" y="2222491"/>
            <a:ext cx="8704793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 interactive test (not walkthrough)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Task completion timing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Error rate tracking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Larger sample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Longitudinal study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Formal accessibility evaluation</a:t>
            </a:r>
          </a:p>
        </p:txBody>
      </p:sp>
    </p:spTree>
    <p:extLst>
      <p:ext uri="{BB962C8B-B14F-4D97-AF65-F5344CB8AC3E}">
        <p14:creationId xmlns:p14="http://schemas.microsoft.com/office/powerpoint/2010/main" val="325885236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50CEA9-37B8-EB9B-FDC7-92AAC660399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D1FC921E-47D0-A408-334C-6035C11CB6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2" t="9854" r="1055" b="-4061"/>
          <a:stretch>
            <a:fillRect/>
          </a:stretch>
        </p:blipFill>
        <p:spPr bwMode="auto">
          <a:xfrm>
            <a:off x="10802970" y="0"/>
            <a:ext cx="1389030" cy="79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A2EF34FB-3050-EC92-0721-236E2767FE04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CONCLUSIONS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0D6449E2-255C-0548-D21B-39676B7E600B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1374775" y="2255098"/>
            <a:ext cx="7933582" cy="3046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lang="en-US" altLang="en-US" sz="3200" dirty="0">
                <a:latin typeface="Arial" panose="020B0604020202020204" pitchFamily="34" charset="0"/>
              </a:rPr>
              <a:t>Recognition of the benefit of our project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High usability (SUS 84.1)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Strong user motivation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Walkthrough limitations noted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Clear roadmap for improvements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Full testing cycle prepared for next phase</a:t>
            </a:r>
          </a:p>
        </p:txBody>
      </p:sp>
    </p:spTree>
    <p:extLst>
      <p:ext uri="{BB962C8B-B14F-4D97-AF65-F5344CB8AC3E}">
        <p14:creationId xmlns:p14="http://schemas.microsoft.com/office/powerpoint/2010/main" val="247227382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849AA7-7B03-D723-8890-D2BAADC29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8F4B4BE-F442-1FFE-0226-CE91C7BC56A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6532" t="9854" r="1055" b="-4061"/>
          <a:stretch>
            <a:fillRect/>
          </a:stretch>
        </p:blipFill>
        <p:spPr bwMode="auto">
          <a:xfrm>
            <a:off x="10802970" y="0"/>
            <a:ext cx="1389030" cy="794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Title 1">
            <a:extLst>
              <a:ext uri="{FF2B5EF4-FFF2-40B4-BE49-F238E27FC236}">
                <a16:creationId xmlns:a16="http://schemas.microsoft.com/office/drawing/2014/main" id="{D80043B7-6750-FFAB-5BB2-DBFB90A1DB22}"/>
              </a:ext>
            </a:extLst>
          </p:cNvPr>
          <p:cNvSpPr txBox="1">
            <a:spLocks/>
          </p:cNvSpPr>
          <p:nvPr/>
        </p:nvSpPr>
        <p:spPr>
          <a:xfrm>
            <a:off x="1451578" y="1433863"/>
            <a:ext cx="9603275" cy="44854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0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200" b="0" i="0" kern="1200" cap="all"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GB" dirty="0"/>
              <a:t>THANK YOU</a:t>
            </a:r>
          </a:p>
        </p:txBody>
      </p:sp>
      <p:sp>
        <p:nvSpPr>
          <p:cNvPr id="4" name="Rectangle 2">
            <a:extLst>
              <a:ext uri="{FF2B5EF4-FFF2-40B4-BE49-F238E27FC236}">
                <a16:creationId xmlns:a16="http://schemas.microsoft.com/office/drawing/2014/main" id="{BAE5B15D-B605-CB05-BE14-F56B9A9C6E3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565620" y="2948685"/>
            <a:ext cx="5375189" cy="132343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  <a:tabLst/>
            </a:pPr>
            <a:r>
              <a:rPr lang="en-US" altLang="en-US" sz="8000" dirty="0">
                <a:latin typeface="Arial" panose="020B0604020202020204" pitchFamily="34" charset="0"/>
              </a:rPr>
              <a:t>Questions?</a:t>
            </a:r>
            <a:endParaRPr kumimoji="0" lang="en-US" altLang="en-US" sz="8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51996739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</TotalTime>
  <Words>826</Words>
  <Application>Microsoft Office PowerPoint</Application>
  <PresentationFormat>Widescreen</PresentationFormat>
  <Paragraphs>227</Paragraphs>
  <Slides>30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Gill Sans MT</vt:lpstr>
      <vt:lpstr>Times New Roman</vt:lpstr>
      <vt:lpstr>Gallery</vt:lpstr>
      <vt:lpstr>AI Studdy Buddy</vt:lpstr>
      <vt:lpstr>Agenda</vt:lpstr>
      <vt:lpstr>The 4 Phases of UX</vt:lpstr>
      <vt:lpstr>PowerPoint Presentation</vt:lpstr>
      <vt:lpstr>Phase 1 - Discover</vt:lpstr>
      <vt:lpstr>Functional Requirements</vt:lpstr>
      <vt:lpstr>PowerPoint Presentation</vt:lpstr>
      <vt:lpstr>PowerPoint Presentation</vt:lpstr>
      <vt:lpstr>Phase 2 - Explore</vt:lpstr>
      <vt:lpstr>PowerPoint Presentation</vt:lpstr>
      <vt:lpstr>PowerPoint Presentation</vt:lpstr>
      <vt:lpstr>Phase 3 - Test</vt:lpstr>
      <vt:lpstr>Phase 3 - Test</vt:lpstr>
      <vt:lpstr>Phase 3 - Test</vt:lpstr>
      <vt:lpstr>Phase 3 - Test</vt:lpstr>
      <vt:lpstr>Phase 3 - Test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Phase 4 - Listen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Mr Nugget</dc:creator>
  <cp:lastModifiedBy>Mr Nugget</cp:lastModifiedBy>
  <cp:revision>3</cp:revision>
  <dcterms:created xsi:type="dcterms:W3CDTF">2025-11-13T15:48:39Z</dcterms:created>
  <dcterms:modified xsi:type="dcterms:W3CDTF">2025-11-13T15:56:53Z</dcterms:modified>
</cp:coreProperties>
</file>